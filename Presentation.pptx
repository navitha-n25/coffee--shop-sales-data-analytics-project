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8" r:id="rId13"/>
    <p:sldId id="271" r:id="rId14"/>
    <p:sldId id="275" r:id="rId15"/>
    <p:sldId id="276" r:id="rId16"/>
    <p:sldId id="277" r:id="rId17"/>
    <p:sldId id="2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1" Type="http://schemas.openxmlformats.org/officeDocument/2006/relationships/tags" Target="../tags/tag30.xm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image" Target="../media/image4.png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10" name="图片 9" descr="矢量智能对象5-0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 l="6578"/>
          <a:stretch>
            <a:fillRect/>
          </a:stretch>
        </p:blipFill>
        <p:spPr>
          <a:xfrm flipH="1">
            <a:off x="6149340" y="1361440"/>
            <a:ext cx="5763895" cy="5027930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6"/>
            </p:custDataLst>
          </p:nvPr>
        </p:nvSpPr>
        <p:spPr>
          <a:xfrm>
            <a:off x="1006475" y="3587645"/>
            <a:ext cx="1607820" cy="4216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0" scaled="0"/>
          </a:gradFill>
        </p:spPr>
        <p:txBody>
          <a:bodyPr wrap="square" lIns="0" tIns="0" rIns="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1006475" y="1586609"/>
            <a:ext cx="6184265" cy="17200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3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95324" y="6314400"/>
            <a:ext cx="261667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8" name="矩形: 圆角 3"/>
          <p:cNvSpPr/>
          <p:nvPr userDrawn="1">
            <p:custDataLst>
              <p:tags r:id="rId11"/>
            </p:custDataLst>
          </p:nvPr>
        </p:nvSpPr>
        <p:spPr>
          <a:xfrm>
            <a:off x="360045" y="333375"/>
            <a:ext cx="11473180" cy="6221730"/>
          </a:xfrm>
          <a:prstGeom prst="roundRect">
            <a:avLst>
              <a:gd name="adj" fmla="val 3754"/>
            </a:avLst>
          </a:prstGeom>
          <a:noFill/>
          <a:ln w="28575">
            <a:gradFill flip="none" rotWithShape="1">
              <a:gsLst>
                <a:gs pos="0">
                  <a:schemeClr val="accent2"/>
                </a:gs>
                <a:gs pos="71000">
                  <a:schemeClr val="accent2">
                    <a:alpha val="0"/>
                  </a:schemeClr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</a:t>
            </a:r>
            <a:endParaRPr 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694800" y="1225550"/>
            <a:ext cx="10796050" cy="502412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800" y="6314400"/>
            <a:ext cx="26172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6196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 rot="10800000"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 rot="10800000"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95325" y="361950"/>
            <a:ext cx="10801350" cy="727075"/>
          </a:xfrm>
          <a:prstGeom prst="rect">
            <a:avLst/>
          </a:prstGeom>
          <a:noFill/>
        </p:spPr>
        <p:txBody>
          <a:bodyPr wrap="square" lIns="91440" tIns="0" rIns="91440" bIns="0" rtlCol="0" anchor="b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62" y="1638300"/>
            <a:ext cx="4029075" cy="4038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3"/>
            </p:custDataLst>
          </p:nvPr>
        </p:nvSpPr>
        <p:spPr>
          <a:xfrm rot="10800000"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914400" y="1677670"/>
            <a:ext cx="6045200" cy="1855470"/>
          </a:xfrm>
          <a:prstGeom prst="rect">
            <a:avLst/>
          </a:prstGeom>
          <a:noFill/>
        </p:spPr>
        <p:txBody>
          <a:bodyPr wrap="none" lIns="91440" tIns="0" rIns="91440" bIns="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20000"/>
              </a:lnSpc>
              <a:buClrTx/>
              <a:buSzTx/>
              <a:buFontTx/>
              <a:buNone/>
              <a:defRPr kumimoji="0" lang="en-US" sz="9600" b="0" i="0" u="none" strike="noStrike" kern="1200" cap="none" spc="0" normalizeH="0" baseline="0" noProof="1">
                <a:gradFill>
                  <a:gsLst>
                    <a:gs pos="79000">
                      <a:schemeClr val="accent1"/>
                    </a:gs>
                    <a:gs pos="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latin typeface="+mn-lt"/>
                <a:sym typeface="+mn-ea"/>
              </a:defRPr>
            </a:lvl1pPr>
          </a:lstStyle>
          <a:p>
            <a:pPr lvl="0" algn="l" fontAlgn="ctr">
              <a:lnSpc>
                <a:spcPct val="12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895350" y="3533140"/>
            <a:ext cx="6045200" cy="154114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212" y="1820862"/>
            <a:ext cx="4676775" cy="4333875"/>
          </a:xfrm>
          <a:prstGeom prst="rect">
            <a:avLst/>
          </a:prstGeom>
        </p:spPr>
      </p:pic>
      <p:sp>
        <p:nvSpPr>
          <p:cNvPr id="2" name="矩形: 圆角 3"/>
          <p:cNvSpPr/>
          <p:nvPr userDrawn="1">
            <p:custDataLst>
              <p:tags r:id="rId11"/>
            </p:custDataLst>
          </p:nvPr>
        </p:nvSpPr>
        <p:spPr>
          <a:xfrm>
            <a:off x="360045" y="333375"/>
            <a:ext cx="11473180" cy="6221730"/>
          </a:xfrm>
          <a:prstGeom prst="roundRect">
            <a:avLst>
              <a:gd name="adj" fmla="val 3754"/>
            </a:avLst>
          </a:prstGeom>
          <a:noFill/>
          <a:ln w="28575">
            <a:gradFill flip="none" rotWithShape="1">
              <a:gsLst>
                <a:gs pos="0">
                  <a:schemeClr val="accent2"/>
                </a:gs>
                <a:gs pos="71000">
                  <a:schemeClr val="accent2">
                    <a:alpha val="0"/>
                  </a:schemeClr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</a:t>
            </a:r>
            <a:endParaRPr 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"/>
          <p:cNvSpPr txBox="1">
            <a:spLocks noGrp="1"/>
          </p:cNvSpPr>
          <p:nvPr>
            <p:ph type="title" idx="3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6400805" y="1250066"/>
            <a:ext cx="5093995" cy="49995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1206" y="1250066"/>
            <a:ext cx="5093994" cy="49995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324" y="6314400"/>
            <a:ext cx="261667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 txBox="1">
            <a:spLocks noGrp="1"/>
          </p:cNvSpPr>
          <p:nvPr>
            <p:ph type="title" idx="5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6235200" y="1854000"/>
            <a:ext cx="5261475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235200" y="1226215"/>
            <a:ext cx="5261475" cy="46288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 hasCustomPrompt="1"/>
            <p:custDataLst>
              <p:tags r:id="rId5"/>
            </p:custDataLst>
          </p:nvPr>
        </p:nvSpPr>
        <p:spPr>
          <a:xfrm>
            <a:off x="694800" y="1854000"/>
            <a:ext cx="52560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94800" y="1225550"/>
            <a:ext cx="5256000" cy="46288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718184" y="6314400"/>
            <a:ext cx="259381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5324" y="6314400"/>
            <a:ext cx="261667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324" y="366395"/>
            <a:ext cx="10801351" cy="589026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5324" y="6314400"/>
            <a:ext cx="261667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>
            <p:custDataLst>
              <p:tags r:id="rId2"/>
            </p:custDataLst>
          </p:nvPr>
        </p:nvCxnSpPr>
        <p:spPr>
          <a:xfrm>
            <a:off x="718185" y="959485"/>
            <a:ext cx="694055" cy="0"/>
          </a:xfrm>
          <a:prstGeom prst="line">
            <a:avLst/>
          </a:prstGeom>
          <a:ln w="25400" cap="sq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95325" y="1225550"/>
            <a:ext cx="10799476" cy="45974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lIns="107950" rtlCol="0" anchor="b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0" i="0" u="none" strike="noStrike" kern="1200" cap="none" spc="30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800" y="6314400"/>
            <a:ext cx="26172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 userDrawn="1">
            <p:custDataLst>
              <p:tags r:id="rId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10" name="图片 9" descr="996_画板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5743575" y="925195"/>
            <a:ext cx="6927215" cy="5567680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6"/>
            </p:custDataLst>
          </p:nvPr>
        </p:nvSpPr>
        <p:spPr>
          <a:xfrm>
            <a:off x="1006475" y="3617595"/>
            <a:ext cx="1607820" cy="4216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0" scaled="0"/>
          </a:gradFill>
        </p:spPr>
        <p:txBody>
          <a:bodyPr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1006475" y="1586608"/>
            <a:ext cx="6184265" cy="172809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en-US" sz="58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矩形: 圆角 3"/>
          <p:cNvSpPr/>
          <p:nvPr userDrawn="1">
            <p:custDataLst>
              <p:tags r:id="rId11"/>
            </p:custDataLst>
          </p:nvPr>
        </p:nvSpPr>
        <p:spPr>
          <a:xfrm>
            <a:off x="360045" y="333375"/>
            <a:ext cx="11473180" cy="6221730"/>
          </a:xfrm>
          <a:prstGeom prst="roundRect">
            <a:avLst>
              <a:gd name="adj" fmla="val 3754"/>
            </a:avLst>
          </a:prstGeom>
          <a:noFill/>
          <a:ln w="28575">
            <a:gradFill flip="none" rotWithShape="1">
              <a:gsLst>
                <a:gs pos="0">
                  <a:schemeClr val="accent2"/>
                </a:gs>
                <a:gs pos="71000">
                  <a:schemeClr val="accent2">
                    <a:alpha val="0"/>
                  </a:schemeClr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</a:t>
            </a:r>
            <a:endParaRPr 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79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1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 userDrawn="1">
            <p:custDataLst>
              <p:tags r:id="rId1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4799" y="6314400"/>
            <a:ext cx="2617201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617198" cy="316800"/>
          </a:xfrm>
        </p:spPr>
        <p:txBody>
          <a:bodyPr/>
          <a:lstStyle>
            <a:lvl1pPr algn="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4799" y="1226916"/>
            <a:ext cx="10799999" cy="495004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0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150" normalizeH="0" baseline="0" dirty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</a:tabLst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image" Target="../media/image6.png"/><Relationship Id="rId5" Type="http://schemas.openxmlformats.org/officeDocument/2006/relationships/tags" Target="../tags/tag102.xml"/><Relationship Id="rId4" Type="http://schemas.openxmlformats.org/officeDocument/2006/relationships/image" Target="../media/image5.png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08.xml"/><Relationship Id="rId4" Type="http://schemas.openxmlformats.org/officeDocument/2006/relationships/image" Target="../media/image7.png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image" Target="../media/image8.png"/><Relationship Id="rId1" Type="http://schemas.openxmlformats.org/officeDocument/2006/relationships/tags" Target="../tags/tag10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17.xml"/><Relationship Id="rId6" Type="http://schemas.openxmlformats.org/officeDocument/2006/relationships/image" Target="../media/image10.png"/><Relationship Id="rId5" Type="http://schemas.openxmlformats.org/officeDocument/2006/relationships/tags" Target="../tags/tag116.xml"/><Relationship Id="rId4" Type="http://schemas.openxmlformats.org/officeDocument/2006/relationships/image" Target="../media/image9.png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19.xml"/><Relationship Id="rId2" Type="http://schemas.openxmlformats.org/officeDocument/2006/relationships/image" Target="../media/image11.png"/><Relationship Id="rId1" Type="http://schemas.openxmlformats.org/officeDocument/2006/relationships/tags" Target="../tags/tag11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2.png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3.png"/><Relationship Id="rId1" Type="http://schemas.openxmlformats.org/officeDocument/2006/relationships/tags" Target="../tags/tag1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1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6096000" y="5411470"/>
            <a:ext cx="2091690" cy="636905"/>
          </a:xfrm>
        </p:spPr>
        <p:txBody>
          <a:bodyPr/>
          <a:lstStyle/>
          <a:p>
            <a:r>
              <a:rPr lang="en-US">
                <a:ea typeface="+mn-ea"/>
              </a:rPr>
              <a:t>Navitha . N</a:t>
            </a:r>
            <a:endParaRPr lang="en-US">
              <a:ea typeface="+mn-ea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ea typeface="+mj-ea"/>
              </a:rPr>
              <a:t>Cafe  Sales Data </a:t>
            </a:r>
            <a:r>
              <a:rPr lang="en-US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+mj-ea"/>
              </a:rPr>
              <a:t>Analysis Project</a:t>
            </a:r>
            <a:endParaRPr lang="en-US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 txBox="1"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dirty="0">
                <a:ea typeface="+mj-ea"/>
                <a:sym typeface="+mn-ea"/>
              </a:rPr>
              <a:t>Introduction:</a:t>
            </a:r>
            <a:endParaRPr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algn="just">
              <a:lnSpc>
                <a:spcPct val="150000"/>
              </a:lnSpc>
            </a:pPr>
            <a:r>
              <a:rPr>
                <a:sym typeface="+mn-ea"/>
              </a:rPr>
              <a:t>Data Cleaning is the process of identifying and correcting errors, missing values, duplicate records, and inconsistent data formats to improve data quality and make it ready for analysis.</a:t>
            </a:r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4690" y="2224405"/>
            <a:ext cx="10796270" cy="40252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en-US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dirty="0">
                <a:ea typeface="+mj-ea"/>
                <a:sym typeface="+mn-ea"/>
              </a:rPr>
              <a:t> </a:t>
            </a:r>
            <a:r>
              <a:rPr dirty="0">
                <a:ea typeface="+mj-ea"/>
                <a:sym typeface="+mn-ea"/>
              </a:rPr>
              <a:t>Project Overview:</a:t>
            </a:r>
            <a:endParaRPr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4690" y="1225550"/>
            <a:ext cx="10796270" cy="204533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sz="2400">
                <a:sym typeface="+mn-ea"/>
              </a:rPr>
              <a:t>Objective:</a:t>
            </a:r>
            <a:endParaRPr sz="2400">
              <a:sym typeface="+mn-ea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>
                <a:sym typeface="+mn-ea"/>
              </a:rPr>
              <a:t>Analyze coffee shop sales data to identify sales trends, customer purchasing patterns, and payment preferences.</a:t>
            </a:r>
            <a:endParaRPr lang="en-US">
              <a:solidFill>
                <a:schemeClr val="tx1"/>
              </a:solidFill>
            </a:endParaRPr>
          </a:p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4800" y="1225550"/>
            <a:ext cx="10796050" cy="502412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981075" y="3416300"/>
            <a:ext cx="7421880" cy="2590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200150" lvl="2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>
              <a:sym typeface="+mn-ea"/>
            </a:endParaRPr>
          </a:p>
          <a:p>
            <a:pPr marL="1200150" lvl="2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Python(Pandas)</a:t>
            </a:r>
            <a:endParaRPr>
              <a:sym typeface="+mn-ea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Jupyter Notebook</a:t>
            </a:r>
            <a:endParaRPr>
              <a:sym typeface="+mn-ea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PowerBI</a:t>
            </a:r>
            <a:endParaRPr>
              <a:sym typeface="+mn-ea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Excel</a:t>
            </a:r>
            <a:endParaRPr lang="en-US">
              <a:solidFill>
                <a:schemeClr val="tx1"/>
              </a:solidFill>
            </a:endParaRPr>
          </a:p>
          <a:p>
            <a:pPr lvl="0">
              <a:lnSpc>
                <a:spcPct val="150000"/>
              </a:lnSpc>
            </a:pP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94690" y="3270885"/>
            <a:ext cx="4387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Tools Used:</a:t>
            </a:r>
            <a:endParaRPr lang="en-US" sz="2400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dirty="0">
                <a:ea typeface="+mj-ea"/>
                <a:sym typeface="+mn-ea"/>
              </a:rPr>
              <a:t>Data Set:</a:t>
            </a:r>
            <a:endParaRPr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sz="1800">
                <a:sym typeface="+mn-ea"/>
              </a:rPr>
              <a:t>Source  : Loaded Dirty cafe sales csv file(10000 rows And 8 columns)</a:t>
            </a:r>
            <a:endParaRPr lang="en-US" sz="18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sz="1800">
                <a:sym typeface="+mn-ea"/>
              </a:rPr>
              <a:t>Key Fields:</a:t>
            </a:r>
            <a:endParaRPr lang="en-US" sz="1800">
              <a:solidFill>
                <a:schemeClr val="tx1"/>
              </a:solidFill>
            </a:endParaRPr>
          </a:p>
          <a:p>
            <a:pPr marL="457200" lvl="1" indent="457200">
              <a:buNone/>
            </a:pPr>
            <a:r>
              <a:rPr sz="1800">
                <a:sym typeface="+mn-ea"/>
              </a:rPr>
              <a:t>Transaction ID</a:t>
            </a:r>
            <a:endParaRPr lang="en-US" sz="1800">
              <a:solidFill>
                <a:schemeClr val="tx1"/>
              </a:solidFill>
            </a:endParaRPr>
          </a:p>
          <a:p>
            <a:pPr marL="457200" lvl="1" indent="457200">
              <a:buNone/>
            </a:pPr>
            <a:r>
              <a:rPr sz="1800">
                <a:sym typeface="+mn-ea"/>
              </a:rPr>
              <a:t>Item</a:t>
            </a:r>
            <a:endParaRPr lang="en-US" sz="1800">
              <a:solidFill>
                <a:schemeClr val="tx1"/>
              </a:solidFill>
            </a:endParaRPr>
          </a:p>
          <a:p>
            <a:pPr marL="457200" lvl="1" indent="457200">
              <a:buNone/>
            </a:pPr>
            <a:r>
              <a:rPr sz="1800">
                <a:sym typeface="+mn-ea"/>
              </a:rPr>
              <a:t>Quantity</a:t>
            </a:r>
            <a:endParaRPr lang="en-US" sz="1800">
              <a:solidFill>
                <a:schemeClr val="tx1"/>
              </a:solidFill>
            </a:endParaRPr>
          </a:p>
          <a:p>
            <a:pPr marL="457200" lvl="1" indent="457200">
              <a:buNone/>
            </a:pPr>
            <a:r>
              <a:rPr sz="1800">
                <a:sym typeface="+mn-ea"/>
              </a:rPr>
              <a:t>Price Per Unit</a:t>
            </a:r>
            <a:endParaRPr lang="en-US" sz="1800">
              <a:solidFill>
                <a:schemeClr val="tx1"/>
              </a:solidFill>
            </a:endParaRPr>
          </a:p>
          <a:p>
            <a:pPr marL="457200" lvl="1" indent="457200">
              <a:buNone/>
            </a:pPr>
            <a:r>
              <a:rPr sz="1800">
                <a:sym typeface="+mn-ea"/>
              </a:rPr>
              <a:t>Total Spent</a:t>
            </a:r>
            <a:endParaRPr lang="en-US" sz="1800">
              <a:solidFill>
                <a:schemeClr val="tx1"/>
              </a:solidFill>
            </a:endParaRPr>
          </a:p>
          <a:p>
            <a:pPr marL="457200" lvl="1" indent="457200">
              <a:buNone/>
            </a:pPr>
            <a:r>
              <a:rPr sz="1800">
                <a:sym typeface="+mn-ea"/>
              </a:rPr>
              <a:t>Location</a:t>
            </a:r>
            <a:endParaRPr lang="en-US" sz="1800">
              <a:solidFill>
                <a:schemeClr val="tx1"/>
              </a:solidFill>
            </a:endParaRPr>
          </a:p>
          <a:p>
            <a:pPr marL="457200" lvl="1" indent="457200">
              <a:buNone/>
            </a:pPr>
            <a:r>
              <a:rPr sz="1800">
                <a:sym typeface="+mn-ea"/>
              </a:rPr>
              <a:t>Payment Method</a:t>
            </a:r>
            <a:endParaRPr lang="en-US" sz="1800">
              <a:solidFill>
                <a:schemeClr val="tx1"/>
              </a:solidFill>
            </a:endParaRPr>
          </a:p>
          <a:p>
            <a:pPr marL="457200" lvl="1" indent="457200">
              <a:buNone/>
            </a:pPr>
            <a:r>
              <a:rPr sz="1800">
                <a:sym typeface="+mn-ea"/>
              </a:rPr>
              <a:t>Transaction Date</a:t>
            </a:r>
            <a:endParaRPr lang="en-US" sz="1800">
              <a:solidFill>
                <a:schemeClr val="tx1"/>
              </a:solidFill>
            </a:endParaRPr>
          </a:p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786255" y="2110740"/>
            <a:ext cx="10796270" cy="53333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 txBox="1"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dirty="0">
                <a:ea typeface="+mj-ea"/>
                <a:sym typeface="+mn-ea"/>
              </a:rPr>
              <a:t>Problem Statement:</a:t>
            </a:r>
            <a:endParaRPr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457200" lvl="1" indent="0">
              <a:lnSpc>
                <a:spcPct val="200000"/>
              </a:lnSpc>
              <a:buNone/>
            </a:pPr>
            <a:endParaRPr>
              <a:sym typeface="+mn-ea"/>
            </a:endParaRP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Missing values Present</a:t>
            </a:r>
            <a:endParaRPr>
              <a:sym typeface="+mn-ea"/>
            </a:endParaRP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Invalid Values(0,UNKNOWN ,ERROR)</a:t>
            </a:r>
            <a:endParaRPr>
              <a:sym typeface="+mn-ea"/>
            </a:endParaRP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Differernt data types</a:t>
            </a:r>
            <a:endParaRPr>
              <a:sym typeface="+mn-ea"/>
            </a:endParaRP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Need Meaningful business insights.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4800" y="1225550"/>
            <a:ext cx="10796050" cy="502412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endParaRPr lang="en-US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Content Placeholder 10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4690" y="1225550"/>
            <a:ext cx="10796270" cy="5374005"/>
          </a:xfrm>
        </p:spPr>
        <p:txBody>
          <a:bodyPr/>
          <a:p>
            <a:pPr marL="0" indent="0" algn="l">
              <a:buNone/>
            </a:pPr>
            <a:r>
              <a:rPr sz="2400">
                <a:sym typeface="+mn-ea"/>
              </a:rPr>
              <a:t>1.Read a data set:</a:t>
            </a:r>
            <a:endParaRPr lang="en-US" sz="24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sz="2400">
                <a:sym typeface="+mn-ea"/>
              </a:rPr>
              <a:t>2.Checking Datatypes:</a:t>
            </a:r>
            <a:endParaRPr lang="en-US" sz="2400">
              <a:solidFill>
                <a:schemeClr val="tx1"/>
              </a:solidFill>
            </a:endParaRPr>
          </a:p>
          <a:p>
            <a:pPr marL="457200" lvl="1" indent="457200">
              <a:buNone/>
            </a:pPr>
            <a:endParaRPr lang="en-US" sz="1800">
              <a:solidFill>
                <a:schemeClr val="tx1"/>
              </a:solidFill>
            </a:endParaRPr>
          </a:p>
          <a:p>
            <a:endParaRPr lang="en-US">
              <a:ea typeface="+mn-ea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39750" y="1080135"/>
            <a:ext cx="10814050" cy="509714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18640" y="1941830"/>
            <a:ext cx="7330440" cy="9632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005455" y="4255135"/>
            <a:ext cx="2075180" cy="2174875"/>
          </a:xfrm>
          <a:prstGeom prst="rect">
            <a:avLst/>
          </a:prstGeom>
        </p:spPr>
      </p:pic>
      <p:sp>
        <p:nvSpPr>
          <p:cNvPr id="9" name="Title 8"/>
          <p:cNvSpPr txBox="1">
            <a:spLocks noGrp="1"/>
          </p:cNvSpPr>
          <p:nvPr>
            <p:ph type="title" idx="2"/>
            <p:custDataLst>
              <p:tags r:id="rId7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dirty="0">
                <a:ea typeface="+mj-ea"/>
                <a:sym typeface="+mn-ea"/>
              </a:rPr>
              <a:t>Data Cleaning:</a:t>
            </a:r>
            <a:endParaRPr dirty="0">
              <a:ea typeface="+mj-ea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Content Placeholder 10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en-US" altLang="en-US">
              <a:ea typeface="+mn-ea"/>
            </a:endParaRPr>
          </a:p>
          <a:p>
            <a:endParaRPr lang="en-US" altLang="en-US">
              <a:ea typeface="+mn-ea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457200">
              <a:buNone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992755" y="1751330"/>
            <a:ext cx="2981325" cy="2649855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948690" y="969645"/>
            <a:ext cx="7134860" cy="5740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2400">
                <a:sym typeface="+mn-ea"/>
              </a:rPr>
              <a:t>3.Checking Null Values</a:t>
            </a:r>
            <a:r>
              <a:rPr lang="en-US" altLang="en-US">
                <a:sym typeface="+mn-ea"/>
              </a:rPr>
              <a:t>:</a:t>
            </a:r>
            <a:endParaRPr lang="en-US" altLang="en-US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Content Placeholder 11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53995" y="1225550"/>
            <a:ext cx="6292215" cy="5324475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859155"/>
            <a:ext cx="10515600" cy="639953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itle 9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noFill/>
        </p:spPr>
        <p:txBody>
          <a:bodyPr vert="horz"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sz="2400">
                <a:sym typeface="+mn-ea"/>
              </a:rPr>
              <a:t>4. Replace Error And Unknown Values:</a:t>
            </a:r>
            <a:endParaRPr sz="2400" dirty="0">
              <a:ea typeface="+mj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Content Placeholder 1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endParaRPr lang="en-US">
              <a:ea typeface="+mn-ea"/>
            </a:endParaRPr>
          </a:p>
          <a:p>
            <a:pPr marL="0" indent="0">
              <a:buNone/>
            </a:pPr>
            <a:endParaRPr lang="en-US">
              <a:ea typeface="+mn-ea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38200" y="466090"/>
            <a:ext cx="10515600" cy="57111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chemeClr val="tx1"/>
                </a:solidFill>
              </a:rPr>
              <a:t>5. Replace Null Values:</a:t>
            </a:r>
            <a:endParaRPr lang="en-US" sz="24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4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 sz="2400">
                <a:sym typeface="+mn-ea"/>
              </a:rPr>
              <a:t>6.Change Datatypes:</a:t>
            </a:r>
            <a:endParaRPr lang="en-US" sz="2400">
              <a:solidFill>
                <a:schemeClr val="tx1"/>
              </a:solidFill>
            </a:endParaRPr>
          </a:p>
          <a:p>
            <a:pPr marL="457200" lvl="1" indent="457200">
              <a:buNone/>
            </a:pPr>
            <a:endParaRPr lang="en-US">
              <a:solidFill>
                <a:schemeClr val="tx1"/>
              </a:solidFill>
            </a:endParaRPr>
          </a:p>
          <a:p>
            <a:pPr marL="457200" lvl="1" indent="457200">
              <a:buNone/>
            </a:pPr>
            <a:endParaRPr lang="en-US">
              <a:solidFill>
                <a:schemeClr val="tx1"/>
              </a:solidFill>
            </a:endParaRPr>
          </a:p>
          <a:p>
            <a:pPr marL="457200" lvl="1" indent="457200">
              <a:buNone/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10155" y="1385570"/>
            <a:ext cx="5387340" cy="1365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10155" y="3810635"/>
            <a:ext cx="5608955" cy="211899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 txBox="1"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xfrm>
            <a:off x="694690" y="0"/>
            <a:ext cx="10800080" cy="719455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dirty="0">
                <a:ea typeface="+mj-ea"/>
                <a:sym typeface="+mn-ea"/>
              </a:rPr>
              <a:t>Dashboard:</a:t>
            </a:r>
            <a:endParaRPr dirty="0">
              <a:ea typeface="+mj-ea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55" y="719455"/>
            <a:ext cx="10149840" cy="56540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xfrm>
            <a:off x="694690" y="236855"/>
            <a:ext cx="10800080" cy="678815"/>
          </a:xfrm>
        </p:spPr>
        <p:txBody>
          <a:bodyPr/>
          <a:p>
            <a:r>
              <a:rPr lang="en-US"/>
              <a:t>Key Performance Matrics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2"/>
            </p:custDataLst>
          </p:nvPr>
        </p:nvGraphicFramePr>
        <p:xfrm>
          <a:off x="1264920" y="1079500"/>
          <a:ext cx="9471660" cy="3892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7220"/>
                <a:gridCol w="3157220"/>
                <a:gridCol w="3157220"/>
              </a:tblGrid>
              <a:tr h="7226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KPI Cards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Values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 Insights</a:t>
                      </a:r>
                      <a:endParaRPr lang="en-US"/>
                    </a:p>
                  </a:txBody>
                  <a:tcPr/>
                </a:tc>
              </a:tr>
              <a:tr h="7512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Total Revenue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89.36K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Total Revenue reached 89.36k</a:t>
                      </a:r>
                      <a:endParaRPr lang="en-US"/>
                    </a:p>
                  </a:txBody>
                  <a:tcPr/>
                </a:tc>
              </a:tr>
              <a:tr h="7512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Avg Transaction value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8.94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Customers Spent 8.94 on average per Transaction</a:t>
                      </a:r>
                      <a:endParaRPr lang="en-US"/>
                    </a:p>
                  </a:txBody>
                  <a:tcPr/>
                </a:tc>
              </a:tr>
              <a:tr h="7531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Total Items Sold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30k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More then 30K items were sold.</a:t>
                      </a:r>
                      <a:endParaRPr lang="en-US"/>
                    </a:p>
                  </a:txBody>
                  <a:tcPr/>
                </a:tc>
              </a:tr>
              <a:tr h="7512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Total Orders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The cafe processed 10k orders succesfully.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705" y="5135880"/>
            <a:ext cx="7825740" cy="1082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xfrm>
            <a:off x="694690" y="154305"/>
            <a:ext cx="10800080" cy="762000"/>
          </a:xfrm>
        </p:spPr>
        <p:txBody>
          <a:bodyPr/>
          <a:p>
            <a:r>
              <a:rPr lang="en-US"/>
              <a:t>Top Selling Items:</a:t>
            </a: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916305"/>
            <a:ext cx="8284845" cy="337248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181735" y="4492625"/>
            <a:ext cx="10077450" cy="1748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Sandwich is the highest-selling item with 22k revenue.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Salad and Juice are the next base-performing products with 19k and 18k revenue.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Tea generates the lowest revenue among the top-selling items.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xfrm>
            <a:off x="694690" y="113030"/>
            <a:ext cx="10800080" cy="730885"/>
          </a:xfrm>
        </p:spPr>
        <p:txBody>
          <a:bodyPr/>
          <a:p>
            <a:r>
              <a:rPr lang="en-US"/>
              <a:t>Business Recommendations: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95325" y="1119505"/>
            <a:ext cx="10736580" cy="5350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/>
              <a:t>Promote Top-selling Products:</a:t>
            </a:r>
            <a:endParaRPr lang="en-US"/>
          </a:p>
          <a:p>
            <a:pPr indent="45720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/>
              <a:t>Focus on Sandwich , Salad and Juice through combo offers and discounts.</a:t>
            </a:r>
            <a:endParaRPr lang="en-US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/>
              <a:t>Increase Digital Payments:</a:t>
            </a:r>
            <a:endParaRPr lang="en-US"/>
          </a:p>
          <a:p>
            <a:pPr indent="45720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/>
              <a:t>Encourage digital wallet usage with cashback and reward programs.</a:t>
            </a:r>
            <a:endParaRPr lang="en-US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/>
              <a:t>Boost Takeaway Sales:</a:t>
            </a:r>
            <a:endParaRPr lang="en-US"/>
          </a:p>
          <a:p>
            <a:pPr indent="45720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/>
              <a:t>Introduce special takeaway offers to increase customer orders.</a:t>
            </a:r>
            <a:endParaRPr lang="en-US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/>
              <a:t>Improve Low-Selling Items:</a:t>
            </a:r>
            <a:endParaRPr lang="en-US"/>
          </a:p>
          <a:p>
            <a:pPr indent="45720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/>
              <a:t>Review pricing and marketing strategies for Tea and Cake.</a:t>
            </a:r>
            <a:endParaRPr lang="en-US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/>
              <a:t>Seasonal Promotions:</a:t>
            </a:r>
            <a:endParaRPr lang="en-US"/>
          </a:p>
          <a:p>
            <a:pPr indent="45720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/>
              <a:t>Run special sampaigns during low-sales months to improve revenue.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>
          <a:xfrm>
            <a:off x="694690" y="183515"/>
            <a:ext cx="10800080" cy="803275"/>
          </a:xfrm>
        </p:spPr>
        <p:txBody>
          <a:bodyPr/>
          <a:p>
            <a:br>
              <a:rPr lang="en-US"/>
            </a:b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001395" y="277495"/>
            <a:ext cx="10493375" cy="2747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Challenges Faced:</a:t>
            </a:r>
            <a:endParaRPr 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Handling missing and incorrect values in the dataset.</a:t>
            </a:r>
            <a:endParaRPr 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Cleaning and transforming data using Power Query.</a:t>
            </a:r>
            <a:endParaRPr 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Creating DAX measures for KPI calculations.</a:t>
            </a:r>
            <a:endParaRPr 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Selecting the righht visuals to represent business insights.</a:t>
            </a:r>
            <a:endParaRPr 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Designing an interactive and user-friendly dashboard.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935990" y="3111500"/>
            <a:ext cx="9272905" cy="3003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Key Learnings:</a:t>
            </a:r>
            <a:endParaRPr 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Improved data cleaing and preprocessing skills.</a:t>
            </a:r>
            <a:endParaRPr 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Learned to create KPI cards and interactive slicers.</a:t>
            </a:r>
            <a:endParaRPr 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Gained hands-on experience with DAX calculations.</a:t>
            </a:r>
            <a:endParaRPr 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Understood how to convert raw data into meaningful insights.</a:t>
            </a:r>
            <a:endParaRPr lang="en-US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Enhanced dashboard design and storytelling skills in Power BI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/>
          <a:p>
            <a:r>
              <a:rPr lang="en-US" sz="2400"/>
              <a:t>conclusion:</a:t>
            </a:r>
            <a:endParaRPr lang="en-US" sz="2400"/>
          </a:p>
        </p:txBody>
      </p:sp>
      <p:sp>
        <p:nvSpPr>
          <p:cNvPr id="4" name="Text Box 3"/>
          <p:cNvSpPr txBox="1"/>
          <p:nvPr/>
        </p:nvSpPr>
        <p:spPr>
          <a:xfrm>
            <a:off x="1055370" y="1270635"/>
            <a:ext cx="10366375" cy="3076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200000"/>
              </a:lnSpc>
            </a:pPr>
            <a:r>
              <a:rPr lang="en-US"/>
              <a:t>The Cafe Sales Dashboard helps track revenue,orders,products,payment methods and sales locations. The analysis shows that Sandwich is the best-selling item, Digital Wallet contributes the highest revenue , and In-store sales are slightly higher than Takeaway sales. This dashboard enables data_driven business decisions and supports sales growth.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67"/>
</p:tagLst>
</file>

<file path=ppt/tags/tag7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80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3467_1*f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Name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1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Your title here"/>
</p:tagLst>
</file>

<file path=ppt/tags/tag82.xml><?xml version="1.0" encoding="utf-8"?>
<p:tagLst xmlns:p="http://schemas.openxmlformats.org/presentationml/2006/main">
  <p:tag name="KSO_WM_SLIDE_CONTENT_AREA" val="{&quot;left&quot;:&quot;45.5&quot;,&quot;top&quot;:&quot;113.15&quot;,&quot;width&quot;:&quot;527.9&quot;,&quot;height&quot;:&quot;299.25&quot;}"/>
  <p:tag name="KSO_WM_SPECIAL_SOURCE" val="bdnull"/>
  <p:tag name="KSO_WM_TEMPLATE_THUMBS_INDEX" val="1、9"/>
  <p:tag name="KSO_WM_SLIDE_ID" val="custom2023346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67"/>
  <p:tag name="KSO_WM_SLIDE_LAYOUT" val="a_f"/>
  <p:tag name="KSO_WM_SLIDE_LAYOUT_CNT" val="1_1"/>
  <p:tag name="KSO_WM_SLIDE_THEME_ID" val="3302922"/>
  <p:tag name="KSO_WM_SLIDE_THEME_NAME" val="Purple Minimalist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86.xml><?xml version="1.0" encoding="utf-8"?>
<p:tagLst xmlns:p="http://schemas.openxmlformats.org/presentationml/2006/main">
  <p:tag name="KSO_WM_SLIDE_TYPE" val="text"/>
  <p:tag name="KSO_WM_BEAUTIFY_FLAG" val="#wm#"/>
</p:tagLst>
</file>

<file path=ppt/tags/tag87.xml><?xml version="1.0" encoding="utf-8"?>
<p:tagLst xmlns:p="http://schemas.openxmlformats.org/presentationml/2006/main">
  <p:tag name="KSO_WM_UNIT_TEXT" val="Introduction: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8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90.xml><?xml version="1.0" encoding="utf-8"?>
<p:tagLst xmlns:p="http://schemas.openxmlformats.org/presentationml/2006/main">
  <p:tag name="KSO_WM_SLIDE_TYPE" val="text"/>
  <p:tag name="KSO_WM_BEAUTIFY_FLAG" val="#wm#"/>
</p:tagLst>
</file>

<file path=ppt/tags/tag91.xml><?xml version="1.0" encoding="utf-8"?>
<p:tagLst xmlns:p="http://schemas.openxmlformats.org/presentationml/2006/main">
  <p:tag name="KSO_WM_UNIT_TEXT" val="Project Overview: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9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94.xml><?xml version="1.0" encoding="utf-8"?>
<p:tagLst xmlns:p="http://schemas.openxmlformats.org/presentationml/2006/main">
  <p:tag name="KSO_WM_SLIDE_TYPE" val="text"/>
  <p:tag name="KSO_WM_BEAUTIFY_FLAG" val="#wm#"/>
</p:tagLst>
</file>

<file path=ppt/tags/tag95.xml><?xml version="1.0" encoding="utf-8"?>
<p:tagLst xmlns:p="http://schemas.openxmlformats.org/presentationml/2006/main">
  <p:tag name="KSO_WM_UNIT_TEXT" val="Data Set: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9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98.xml><?xml version="1.0" encoding="utf-8"?>
<p:tagLst xmlns:p="http://schemas.openxmlformats.org/presentationml/2006/main">
  <p:tag name="KSO_WM_SLIDE_TYPE" val="text"/>
  <p:tag name="KSO_WM_BEAUTIFY_FLAG" val="#wm#"/>
</p:tagLst>
</file>

<file path=ppt/tags/tag9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01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02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103.xml><?xml version="1.0" encoding="utf-8"?>
<p:tagLst xmlns:p="http://schemas.openxmlformats.org/presentationml/2006/main">
  <p:tag name="KSO_WM_UNIT_TEXT" val="Problem Statement: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04.xml><?xml version="1.0" encoding="utf-8"?>
<p:tagLst xmlns:p="http://schemas.openxmlformats.org/presentationml/2006/main">
  <p:tag name="KSO_WM_SLIDE_TYPE" val="text"/>
  <p:tag name="KSO_WM_BEAUTIFY_FLAG" val="#wm#"/>
</p:tagLst>
</file>

<file path=ppt/tags/tag10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07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108.xml><?xml version="1.0" encoding="utf-8"?>
<p:tagLst xmlns:p="http://schemas.openxmlformats.org/presentationml/2006/main">
  <p:tag name="KSO_WM_SLIDE_TYPE" val="text"/>
  <p:tag name="KSO_WM_BEAUTIFY_FLAG" val="#wm#"/>
</p:tagLst>
</file>

<file path=ppt/tags/tag109.xml><?xml version="1.0" encoding="utf-8"?>
<p:tagLst xmlns:p="http://schemas.openxmlformats.org/presentationml/2006/main">
  <p:tag name="KSO_WM_UNIT_INDEX" val="1"/>
  <p:tag name="KSO_WM_UNIT_TYPE" val="f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11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SLIDE_TYPE" val="text"/>
  <p:tag name="KSO_WM_BEAUTIFY_FLAG" val="#wm#"/>
</p:tagLst>
</file>

<file path=ppt/tags/tag11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15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16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117.xml><?xml version="1.0" encoding="utf-8"?>
<p:tagLst xmlns:p="http://schemas.openxmlformats.org/presentationml/2006/main">
  <p:tag name="KSO_WM_SLIDE_TYPE" val="text"/>
  <p:tag name="KSO_WM_BEAUTIFY_FLAG" val="#wm#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SLIDE_TYPE" val="text"/>
  <p:tag name="KSO_WM_BEAUTIFY_FLAG" val="#wm#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TABLE_ENDDRAG_ORIGIN_RECT" val="745*306"/>
  <p:tag name="TABLE_ENDDRAG_RECT" val="99*85*745*306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自定义 17">
      <a:dk1>
        <a:srgbClr val="000000"/>
      </a:dk1>
      <a:lt1>
        <a:srgbClr val="FFFFFF"/>
      </a:lt1>
      <a:dk2>
        <a:srgbClr val="291667"/>
      </a:dk2>
      <a:lt2>
        <a:srgbClr val="F1EAFB"/>
      </a:lt2>
      <a:accent1>
        <a:srgbClr val="BC98F0"/>
      </a:accent1>
      <a:accent2>
        <a:srgbClr val="CA8BEF"/>
      </a:accent2>
      <a:accent3>
        <a:srgbClr val="D77EEE"/>
      </a:accent3>
      <a:accent4>
        <a:srgbClr val="E285CF"/>
      </a:accent4>
      <a:accent5>
        <a:srgbClr val="EAA194"/>
      </a:accent5>
      <a:accent6>
        <a:srgbClr val="F2BD58"/>
      </a:accent6>
      <a:hlink>
        <a:srgbClr val="158BF9"/>
      </a:hlink>
      <a:folHlink>
        <a:srgbClr val="DE1A37"/>
      </a:folHlink>
    </a:clrScheme>
    <a:fontScheme name="字体-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2775</Words>
  <Application>WPS Presentation</Application>
  <PresentationFormat>Widescreen</PresentationFormat>
  <Paragraphs>147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MiSans Normal</vt:lpstr>
      <vt:lpstr>Wingdings</vt:lpstr>
      <vt:lpstr>Nunito Sans</vt:lpstr>
      <vt:lpstr>Segoe Print</vt:lpstr>
      <vt:lpstr>Nunito Sans ExtraBold</vt:lpstr>
      <vt:lpstr>Microsoft YaHei</vt:lpstr>
      <vt:lpstr>Arial Unicode MS</vt:lpstr>
      <vt:lpstr>Calibri</vt:lpstr>
      <vt:lpstr>Aptos Display</vt:lpstr>
      <vt:lpstr>Segoe UI Variable Display</vt:lpstr>
      <vt:lpstr>office theme</vt:lpstr>
      <vt:lpstr>Office Theme</vt:lpstr>
      <vt:lpstr>Cafe  Sales Data Analysis Project</vt:lpstr>
      <vt:lpstr>Introduction:</vt:lpstr>
      <vt:lpstr> Project Overview:</vt:lpstr>
      <vt:lpstr>Data Set:</vt:lpstr>
      <vt:lpstr>Problem Statement:</vt:lpstr>
      <vt:lpstr>Data Cleaning:</vt:lpstr>
      <vt:lpstr>PowerPoint 演示文稿</vt:lpstr>
      <vt:lpstr>4. Replace Error And Unknown Values:</vt:lpstr>
      <vt:lpstr>PowerPoint 演示文稿</vt:lpstr>
      <vt:lpstr>Dashboard:</vt:lpstr>
      <vt:lpstr>Key Performance Matrics</vt:lpstr>
      <vt:lpstr>Top Selling Items:</vt:lpstr>
      <vt:lpstr>Business Recommendations:</vt:lpstr>
      <vt:lpstr> </vt:lpstr>
      <vt:lpstr>conclusion: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Karthik KK</cp:lastModifiedBy>
  <cp:revision>7</cp:revision>
  <dcterms:created xsi:type="dcterms:W3CDTF">2026-04-18T02:08:00Z</dcterms:created>
  <dcterms:modified xsi:type="dcterms:W3CDTF">2026-07-14T14:01:43Z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170676EF5AAE499B814A16D809A7EEA4_12</vt:lpwstr>
  </property>
</Properties>
</file>